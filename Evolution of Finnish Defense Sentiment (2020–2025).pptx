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5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E95D5-8C3D-47AA-82CF-8A17D2A06673}" type="datetimeFigureOut">
              <a:rPr lang="en-FI" smtClean="0"/>
              <a:t>11/10/2026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D86814-240C-4163-9BC9-F0342E596CD6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8821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6028D-BB33-9EC8-1D2A-94E1EC16D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540E7-AF28-0C59-AE18-EC064E5D0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96760-9D29-0544-208A-176D35FD4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3119C-FDCE-DB3E-3D9D-A9A5D1B20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86814-240C-4163-9BC9-F0342E596CD6}" type="slidenum">
              <a:rPr lang="en-FI" smtClean="0"/>
              <a:t>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74489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86814-240C-4163-9BC9-F0342E596CD6}" type="slidenum">
              <a:rPr lang="en-FI" smtClean="0"/>
              <a:t>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76588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CF31A-27CA-A32B-A9BC-607D6DB42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303CB-2447-81D7-CABA-E4D1D9D73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69AF7-4C80-D985-0EE4-260ABF8EC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51B40-AACF-CC46-7F86-5BF8A853A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86814-240C-4163-9BC9-F0342E596CD6}" type="slidenum">
              <a:rPr lang="en-FI" smtClean="0"/>
              <a:t>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94464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4C9B4-AAAD-ED73-09B3-F6E5BC7B4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0B704-1987-9F75-2AB4-C13F2AB92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EBCE6D-EADB-E0BA-A22E-686BE1266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CB956-428A-827C-273F-96D5C53F6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86814-240C-4163-9BC9-F0342E596CD6}" type="slidenum">
              <a:rPr lang="en-FI" smtClean="0"/>
              <a:t>8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37049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268E6-786F-5EDD-C054-5EC257E29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AC4005-102B-EA11-B253-5CB88DF1E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BB97F-E52E-2A21-C096-388D042DF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A5A0-E7F9-446B-8F0E-2A6DBB7730CE}" type="datetimeFigureOut">
              <a:rPr lang="en-FI" smtClean="0"/>
              <a:t>11/10/2026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67474-4BFE-F17A-095F-9A44F49B0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C8D5F-6F96-AEAF-23BC-BABD0F1B5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C669B-B2F0-4911-9D77-77DF1B2A41C1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30876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50D3D-B357-7B31-E1A2-4A8B25D26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0274E-6B12-9DA6-9443-1A8C9D333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DAC30-6E7B-C625-F06C-22C57AE46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A5A0-E7F9-446B-8F0E-2A6DBB7730CE}" type="datetimeFigureOut">
              <a:rPr lang="en-FI" smtClean="0"/>
              <a:t>11/10/2026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6EB05-8377-6BC9-ACF9-362B4CA20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DC32A-42A4-A782-123F-2560D6FB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C669B-B2F0-4911-9D77-77DF1B2A41C1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2961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B8B32-85E5-61CE-2FD2-57E908BC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0779D-4DA9-2949-D775-B9C056F7E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527FA-C23C-9BB0-C7AD-FE5936DFB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A5A0-E7F9-446B-8F0E-2A6DBB7730CE}" type="datetimeFigureOut">
              <a:rPr lang="en-FI" smtClean="0"/>
              <a:t>11/10/2026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CB077-FDD9-3BF4-B18D-01032E330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76D72-1241-BA11-E366-E8B850E49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C669B-B2F0-4911-9D77-77DF1B2A41C1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92839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8B2D8-DDFA-7894-9317-39013D3E5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82981-C77B-F06A-0207-B5797E2BEF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3F9DA7-AFBD-69BB-6239-0335E7A36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C69B8-BBE5-D610-49C3-79ED87995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A5A0-E7F9-446B-8F0E-2A6DBB7730CE}" type="datetimeFigureOut">
              <a:rPr lang="en-FI" smtClean="0"/>
              <a:t>11/10/2026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5FF23-6032-5CED-D002-BCF2DEF7E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E299D-12D3-05FF-11F1-3CE33DB3F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C669B-B2F0-4911-9D77-77DF1B2A41C1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45339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832C-D8F4-7D55-E630-A5D33C187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F9275-6185-EE66-C083-67D85420A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77DDF-0F78-062B-B36E-9E13D2AAE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9BB534-9897-6DB5-AC91-F70C53397B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C989E-0516-0FA6-6295-5C1202570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988AF-7CA5-68E2-F9E3-8C28F5C48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A5A0-E7F9-446B-8F0E-2A6DBB7730CE}" type="datetimeFigureOut">
              <a:rPr lang="en-FI" smtClean="0"/>
              <a:t>11/10/2026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512910-4FD0-4C43-EA6F-6F1A77B9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FA952C-B16C-293D-DA1A-2D0C39859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C669B-B2F0-4911-9D77-77DF1B2A41C1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99525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2BF7D-37B2-E05F-66A1-1D04CCF6B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586B0-1D56-8C95-0782-C314DCE5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A5A0-E7F9-446B-8F0E-2A6DBB7730CE}" type="datetimeFigureOut">
              <a:rPr lang="en-FI" smtClean="0"/>
              <a:t>11/10/2026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9AF53-E158-A5E5-6112-85AD02ED7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804AC-E17D-3D6E-97CB-855D853A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C669B-B2F0-4911-9D77-77DF1B2A41C1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57591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8A2509-FA36-31B6-F551-13ABB8CE9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A5A0-E7F9-446B-8F0E-2A6DBB7730CE}" type="datetimeFigureOut">
              <a:rPr lang="en-FI" smtClean="0"/>
              <a:t>11/10/2026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1C2A80-DD14-649E-9C71-AA3304539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735C-2372-2478-7F45-655F692A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C669B-B2F0-4911-9D77-77DF1B2A41C1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4806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32AC-3DFC-7A00-B9BF-8AD57F9EE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8A048-A42E-76CF-7FAA-B367FF897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EC5D9F-26A1-2AA1-02F5-F2B4186B2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AD4CB-2FA0-584E-BC09-99EC81DB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A5A0-E7F9-446B-8F0E-2A6DBB7730CE}" type="datetimeFigureOut">
              <a:rPr lang="en-FI" smtClean="0"/>
              <a:t>11/10/2026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E2115-BD92-7CDA-681D-E1B985132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6D210-745B-2E5D-6F10-7161176E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C669B-B2F0-4911-9D77-77DF1B2A41C1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0507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7249A-ADBB-954A-B4B9-4DAEF2639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C60E3F-0F4F-2279-EFDC-4053CED008C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BA9EA-260D-69DC-D72E-D87F27188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D885E-5FA2-FB9F-0929-8D9B83266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A5A0-E7F9-446B-8F0E-2A6DBB7730CE}" type="datetimeFigureOut">
              <a:rPr lang="en-FI" smtClean="0"/>
              <a:t>11/10/2026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10FB6-A364-7633-F2AA-11744613A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F7D1B-6299-66DD-9AB2-1EE72CE2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C669B-B2F0-4911-9D77-77DF1B2A41C1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64042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091AC-9252-3FFA-74A7-6980674FA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422C1-9B70-0DF4-A1F8-EF1635B60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DC137-E8E7-B1E0-B935-8135EB4C0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A5A0-E7F9-446B-8F0E-2A6DBB7730CE}" type="datetimeFigureOut">
              <a:rPr lang="en-FI" smtClean="0"/>
              <a:t>11/10/2026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7C6BA-27C4-9409-A0A5-0B7A1F3D6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E91DC-FA51-11FB-6F74-5C6FD5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C669B-B2F0-4911-9D77-77DF1B2A41C1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4362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4A0CCE-709B-4D4C-0356-78ACF33B25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5D486-1C10-1F0D-4747-734903450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FB039-A589-4BBB-BEF1-8BD4CA028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A5A0-E7F9-446B-8F0E-2A6DBB7730CE}" type="datetimeFigureOut">
              <a:rPr lang="en-FI" smtClean="0"/>
              <a:t>11/10/2026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F1067-D50E-DBD5-74C8-B8853031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E7728-F41A-5205-880B-3E08E4FB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C669B-B2F0-4911-9D77-77DF1B2A41C1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79522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0A371A-DB54-C02D-A27C-33C517DD4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F769A-2D7F-63F8-60F3-7EBE0CBCC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2321C-1268-46D0-8736-9A610BC061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3CA5A0-E7F9-446B-8F0E-2A6DBB7730CE}" type="datetimeFigureOut">
              <a:rPr lang="en-FI" smtClean="0"/>
              <a:t>11/10/2026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BF76E-8C9B-AFC4-CD2B-74CC844218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B8C65-6ECE-C735-F82B-C13695D6F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9C669B-B2F0-4911-9D77-77DF1B2A41C1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8148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5E77FB-6E8A-49CB-476B-D4B639933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94AA379-92C7-227C-0C51-CCCC4F58D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559972-ED46-E4F2-BBDC-1545AE3C7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0DE13B-7BC0-3736-5F7A-E0D7297C1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FED214-CEB7-955E-DFD6-75CE4876E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46A385-8660-2C22-0C3C-A20816174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EBFEC5-6D7D-4C7B-12AF-46D85B802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713B27-C755-C27A-A6AB-F51B15727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319349-1933-753F-1F72-1428971E6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494717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How Finland’s Public Opinion Shifted Toward NATO (2020–2025)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Tracking changes in national security, defense, and public concerns through 6 years of sociological data</a:t>
            </a:r>
            <a:br>
              <a:rPr lang="en-FI" sz="4000" dirty="0"/>
            </a:b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C877E-CB19-AB8B-8031-6F530C72A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349389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b="1" dirty="0"/>
              <a:t>Project Objective:</a:t>
            </a: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/>
              <a:t>Track the Change:</a:t>
            </a:r>
            <a:r>
              <a:rPr lang="en-US" sz="2000" dirty="0"/>
              <a:t> Explore how public opinion in Finland transformed during the critical transition into NATO (from pre-war skepticism to post-accession unity).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/>
              <a:t>Uncover Key Trends:</a:t>
            </a:r>
            <a:r>
              <a:rPr lang="en-US" sz="2000" dirty="0"/>
              <a:t> Analyze real survey data to see how people's sense of security, defense confidence, and major societal concerns evolved over 6 years.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836E0-665F-8901-DCF6-B80D16D133FF}"/>
              </a:ext>
            </a:extLst>
          </p:cNvPr>
          <p:cNvSpPr txBox="1"/>
          <p:nvPr/>
        </p:nvSpPr>
        <p:spPr>
          <a:xfrm>
            <a:off x="10001250" y="6093825"/>
            <a:ext cx="1905000" cy="558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Oksana Kocherzhat</a:t>
            </a:r>
          </a:p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2713493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0F96C7-5FBD-7628-350C-3D000F620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E1605800-16E5-4C86-20EB-1F5EFCC28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2AC2F01-5CFF-1243-ED25-705243E16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E5C9113-B6D5-C726-B4D5-3B6980C30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F874D0F-2BA5-C3DE-199F-17B46FD88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A5F00F5-0497-F694-2B2C-5B940597F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013854-0CAA-340F-10BF-43C110AE1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Source:</a:t>
            </a:r>
            <a:r>
              <a:rPr lang="en-US" sz="2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Official annual surveys from the Finnish Social Science Data Archive (FSD) from 2020 to 2025 (Series FSD349, FSD3606, FSD3676, FSD3752, FSD3856, FSD3955, FSD4066).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9747B-9FEA-AC69-9AFF-17C225D0A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3982" y="17085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en-US" sz="2000" b="1" dirty="0"/>
              <a:t>Data Processing:</a:t>
            </a:r>
            <a:endParaRPr lang="en-US" sz="2000" dirty="0"/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dirty="0"/>
              <a:t>Applied official respondent weights (PAINO) to accurately reflect Finland's population structure.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dirty="0"/>
              <a:t>Filtered out "Can't say" responses and missing values to calculate honest percentages and average scores.</a:t>
            </a:r>
          </a:p>
          <a:p>
            <a:pPr lvl="0" algn="l"/>
            <a:r>
              <a:rPr lang="en-US" sz="2000" b="1" dirty="0"/>
              <a:t>Compliance:</a:t>
            </a:r>
            <a:r>
              <a:rPr lang="en-US" sz="2000" dirty="0"/>
              <a:t> Fully adhered to FSD archive terms of use and data security standards.</a:t>
            </a:r>
          </a:p>
        </p:txBody>
      </p:sp>
    </p:spTree>
    <p:extLst>
      <p:ext uri="{BB962C8B-B14F-4D97-AF65-F5344CB8AC3E}">
        <p14:creationId xmlns:p14="http://schemas.microsoft.com/office/powerpoint/2010/main" val="2704346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774A1-E849-AD43-F078-6B3B3BB0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AC2DC-197D-C493-29A3-5424715C2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353160"/>
            <a:ext cx="7091300" cy="898581"/>
          </a:xfrm>
        </p:spPr>
        <p:txBody>
          <a:bodyPr anchor="ctr">
            <a:normAutofit/>
          </a:bodyPr>
          <a:lstStyle/>
          <a:p>
            <a:pPr lvl="0" algn="l"/>
            <a:r>
              <a:rPr lang="en-FI" sz="2800" dirty="0">
                <a:solidFill>
                  <a:srgbClr val="FFFFFF"/>
                </a:solidFill>
              </a:rPr>
              <a:t>Evolution of Public Support for NATO (2021–2025)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3EB2F2-7416-9496-4EE8-AD762963C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8855" y="59324"/>
            <a:ext cx="4063143" cy="1486251"/>
          </a:xfrm>
        </p:spPr>
        <p:txBody>
          <a:bodyPr anchor="ctr">
            <a:noAutofit/>
          </a:bodyPr>
          <a:lstStyle/>
          <a:p>
            <a:pPr algn="l"/>
            <a:r>
              <a:rPr lang="en-FI" sz="1200" b="1" dirty="0">
                <a:solidFill>
                  <a:srgbClr val="FFFFFF"/>
                </a:solidFill>
              </a:rPr>
              <a:t>Key Takeaways:</a:t>
            </a:r>
          </a:p>
          <a:p>
            <a:pPr lvl="0" algn="l"/>
            <a:r>
              <a:rPr lang="en-FI" sz="1200" b="1" dirty="0">
                <a:solidFill>
                  <a:srgbClr val="FFFFFF"/>
                </a:solidFill>
              </a:rPr>
              <a:t>Before the War (2021):</a:t>
            </a:r>
            <a:r>
              <a:rPr lang="en-FI" sz="1200" dirty="0">
                <a:solidFill>
                  <a:srgbClr val="FFFFFF"/>
                </a:solidFill>
              </a:rPr>
              <a:t> Before the events of 2022, most Finns were against joining NATO, and a large group was unsure ("Can't say"). </a:t>
            </a:r>
          </a:p>
          <a:p>
            <a:pPr lvl="0" algn="l"/>
            <a:r>
              <a:rPr lang="en-FI" sz="1200" b="1" dirty="0">
                <a:solidFill>
                  <a:srgbClr val="FFFFFF"/>
                </a:solidFill>
              </a:rPr>
              <a:t>After Joining NATO (2025):</a:t>
            </a:r>
            <a:r>
              <a:rPr lang="en-FI" sz="1200" dirty="0">
                <a:solidFill>
                  <a:srgbClr val="FFFFFF"/>
                </a:solidFill>
              </a:rPr>
              <a:t> After the war started and Finland joined the alliance, public opinion completely flipped. By 2025, a strong majority of the population supported NATO membership.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84B5F8-7B04-985F-C02A-1E1533A04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63567"/>
            <a:ext cx="5716290" cy="2815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960CDA-12FA-DDCE-2BD3-E8D311C060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85" y="2563567"/>
            <a:ext cx="5131087" cy="316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023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8924C5-0AB2-879E-889C-F405704C4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B2D07E-BFD8-224C-904A-8F702C65A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353160"/>
            <a:ext cx="7091300" cy="898581"/>
          </a:xfrm>
        </p:spPr>
        <p:txBody>
          <a:bodyPr anchor="ctr">
            <a:normAutofit/>
          </a:bodyPr>
          <a:lstStyle/>
          <a:p>
            <a:pPr lvl="0" algn="l"/>
            <a:r>
              <a:rPr lang="en-FI" sz="3100">
                <a:solidFill>
                  <a:srgbClr val="FFFFFF"/>
                </a:solidFill>
              </a:rPr>
              <a:t>Generational Shifts: Age-Group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74335-259A-F59F-CBCF-52135FBC13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8856" y="0"/>
            <a:ext cx="4063145" cy="1787335"/>
          </a:xfrm>
        </p:spPr>
        <p:txBody>
          <a:bodyPr anchor="ctr">
            <a:noAutofit/>
          </a:bodyPr>
          <a:lstStyle/>
          <a:p>
            <a:pPr algn="l"/>
            <a:r>
              <a:rPr lang="en-FI" sz="1000" b="1">
                <a:solidFill>
                  <a:srgbClr val="FFFFFF"/>
                </a:solidFill>
              </a:rPr>
              <a:t>Key Takeaways:</a:t>
            </a:r>
            <a:endParaRPr lang="en-FI" sz="1000">
              <a:solidFill>
                <a:srgbClr val="FFFFFF"/>
              </a:solidFill>
            </a:endParaRPr>
          </a:p>
          <a:p>
            <a:pPr lvl="0" algn="l"/>
            <a:r>
              <a:rPr lang="en-FI" sz="1000" b="1">
                <a:solidFill>
                  <a:srgbClr val="FFFFFF"/>
                </a:solidFill>
              </a:rPr>
              <a:t>Pattern in 2021:</a:t>
            </a:r>
            <a:r>
              <a:rPr lang="en-FI" sz="1000">
                <a:solidFill>
                  <a:srgbClr val="FFFFFF"/>
                </a:solidFill>
              </a:rPr>
              <a:t> In 2021, the "No" response was dominant across all age groups (dark blue cells), while youth (18–35) showed a higher percentage of neutral or undecided answers ("Cannot say / Neutral" at 33.0%) compared to older cohorts. </a:t>
            </a:r>
          </a:p>
          <a:p>
            <a:pPr lvl="0" algn="l"/>
            <a:r>
              <a:rPr lang="en-FI" sz="1000" b="1">
                <a:solidFill>
                  <a:srgbClr val="FFFFFF"/>
                </a:solidFill>
              </a:rPr>
              <a:t>Pattern in 2025:</a:t>
            </a:r>
            <a:r>
              <a:rPr lang="en-FI" sz="1000">
                <a:solidFill>
                  <a:srgbClr val="FFFFFF"/>
                </a:solidFill>
              </a:rPr>
              <a:t> By 2025, the structure of opinions shifted significantly toward support. Seniors (56+) showed the strongest positive backing ("Somewhat for" at 56.1%), while younger and middle-aged groups formed solid majorities split across supportive categories. </a:t>
            </a:r>
          </a:p>
          <a:p>
            <a:pPr lvl="0" algn="l"/>
            <a:endParaRPr lang="en-FI" sz="10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E8B853-7E38-8EBF-398C-DF1020E8AB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8" y="2576779"/>
            <a:ext cx="5131088" cy="32069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A308E8-07A6-C28F-F4CD-2B29EE800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600438"/>
            <a:ext cx="5131087" cy="323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268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4B775-BA11-4788-3F38-026E37304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89B5-050B-D60E-D344-94A05821E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lvl="0" algn="l"/>
            <a:r>
              <a:rPr lang="en-FI" sz="3700" dirty="0">
                <a:solidFill>
                  <a:srgbClr val="FFFFFF"/>
                </a:solidFill>
              </a:rPr>
              <a:t>Evolution of Finnish Public Opinion on NATO Membership (2021–2025)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A6D90-BB50-53CA-10C0-5590D7EEA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8856" y="-1647"/>
            <a:ext cx="4063143" cy="1574311"/>
          </a:xfrm>
        </p:spPr>
        <p:txBody>
          <a:bodyPr anchor="ctr">
            <a:normAutofit/>
          </a:bodyPr>
          <a:lstStyle/>
          <a:p>
            <a:pPr algn="l"/>
            <a:r>
              <a:rPr lang="en-FI" sz="1050" b="1" dirty="0">
                <a:solidFill>
                  <a:srgbClr val="FFFFFF"/>
                </a:solidFill>
              </a:rPr>
              <a:t>Key Takeaways:</a:t>
            </a:r>
            <a:endParaRPr lang="en-FI" sz="1050" dirty="0">
              <a:solidFill>
                <a:srgbClr val="FFFFFF"/>
              </a:solidFill>
            </a:endParaRPr>
          </a:p>
          <a:p>
            <a:pPr lvl="0" algn="l"/>
            <a:r>
              <a:rPr lang="en-FI" sz="1050" b="1" dirty="0">
                <a:solidFill>
                  <a:srgbClr val="FFFFFF"/>
                </a:solidFill>
              </a:rPr>
              <a:t>Sharp Shift in 2022:</a:t>
            </a:r>
            <a:r>
              <a:rPr lang="en-FI" sz="1050" dirty="0">
                <a:solidFill>
                  <a:srgbClr val="FFFFFF"/>
                </a:solidFill>
              </a:rPr>
              <a:t> In 2021, those against NATO (red line) significantly outnumbered supporters (blue line). However, in 2022, support surged dramatically while opposition dropped to minimal levels. </a:t>
            </a:r>
          </a:p>
          <a:p>
            <a:pPr lvl="0" algn="l"/>
            <a:r>
              <a:rPr lang="en-FI" sz="1050" b="1" dirty="0">
                <a:solidFill>
                  <a:srgbClr val="FFFFFF"/>
                </a:solidFill>
              </a:rPr>
              <a:t>Long-Term Stability (2023–2025):</a:t>
            </a:r>
            <a:r>
              <a:rPr lang="en-FI" sz="1050" dirty="0">
                <a:solidFill>
                  <a:srgbClr val="FFFFFF"/>
                </a:solidFill>
              </a:rPr>
              <a:t> From 2023 to 2025, public </a:t>
            </a:r>
            <a:r>
              <a:rPr lang="en-FI" sz="1050" dirty="0" err="1">
                <a:solidFill>
                  <a:srgbClr val="FFFFFF"/>
                </a:solidFill>
              </a:rPr>
              <a:t>favorability</a:t>
            </a:r>
            <a:r>
              <a:rPr lang="en-FI" sz="1050" dirty="0">
                <a:solidFill>
                  <a:srgbClr val="FFFFFF"/>
                </a:solidFill>
              </a:rPr>
              <a:t> stabilized above 50%, establishing a solid and lasting consensus following Finland's accession to the alliance.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06C3E-DA00-B213-E844-CF38C63D6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902" y="1966293"/>
            <a:ext cx="7514194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020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6D1FD-E895-4F3B-06CD-AA926C7A2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30CA85-4EEE-E0B3-233E-E2652D0F4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lvl="0" algn="l"/>
            <a:r>
              <a:rPr lang="en-FI" sz="4800"/>
              <a:t>Assessment of Security Aspects and Defense (2021)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CF5443-DA14-65FC-7B39-62813E1E6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lvl="0" algn="l"/>
            <a:r>
              <a:rPr lang="en-FI" sz="1300" b="1">
                <a:solidFill>
                  <a:srgbClr val="FFFFFF"/>
                </a:solidFill>
              </a:rPr>
              <a:t>Before the shift (2021):</a:t>
            </a:r>
            <a:r>
              <a:rPr lang="en-FI" sz="1300">
                <a:solidFill>
                  <a:srgbClr val="FFFFFF"/>
                </a:solidFill>
              </a:rPr>
              <a:t> Back then, staying militarily non-aligned and facing rising pressure from Russia made people very uneasy about national safety.</a:t>
            </a:r>
          </a:p>
          <a:p>
            <a:pPr lvl="0" algn="l"/>
            <a:r>
              <a:rPr lang="en-FI" sz="1300" b="1">
                <a:solidFill>
                  <a:srgbClr val="FFFFFF"/>
                </a:solidFill>
              </a:rPr>
              <a:t>What helped:</a:t>
            </a:r>
            <a:r>
              <a:rPr lang="en-FI" sz="1300">
                <a:solidFill>
                  <a:srgbClr val="FFFFFF"/>
                </a:solidFill>
              </a:rPr>
              <a:t> Joining forces internationally and working closely with the EU were seen as the main anchors of stability.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B86BDC-F835-69B5-E280-5AEC74F48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978" y="1851102"/>
            <a:ext cx="6016118" cy="3233663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053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C2E4D5-A4D7-473B-ABE8-56DABFAE5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46CB1-B934-ACB9-A5D1-2CB2D5600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lvl="0" algn="l"/>
            <a:r>
              <a:rPr lang="en-FI" sz="4400"/>
              <a:t>Comprehensive Security and Resilience Index (2025)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68B7E-099D-0854-F7B4-1191653DD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779" y="4578750"/>
            <a:ext cx="4662957" cy="1395022"/>
          </a:xfrm>
        </p:spPr>
        <p:txBody>
          <a:bodyPr>
            <a:normAutofit/>
          </a:bodyPr>
          <a:lstStyle/>
          <a:p>
            <a:pPr lvl="0" algn="l"/>
            <a:r>
              <a:rPr lang="en-FI" sz="1300" b="1" dirty="0" err="1">
                <a:solidFill>
                  <a:srgbClr val="FFFFFF"/>
                </a:solidFill>
              </a:rPr>
              <a:t>Defense</a:t>
            </a:r>
            <a:r>
              <a:rPr lang="en-FI" sz="1300" b="1" dirty="0">
                <a:solidFill>
                  <a:srgbClr val="FFFFFF"/>
                </a:solidFill>
              </a:rPr>
              <a:t> Confidence (4.24/5):</a:t>
            </a:r>
            <a:r>
              <a:rPr lang="en-FI" sz="1300" dirty="0">
                <a:solidFill>
                  <a:srgbClr val="FFFFFF"/>
                </a:solidFill>
              </a:rPr>
              <a:t> By 2025, people in Finland feel overwhelmingly confident in their national </a:t>
            </a:r>
            <a:r>
              <a:rPr lang="en-FI" sz="1300" dirty="0" err="1">
                <a:solidFill>
                  <a:srgbClr val="FFFFFF"/>
                </a:solidFill>
              </a:rPr>
              <a:t>defense</a:t>
            </a:r>
            <a:r>
              <a:rPr lang="en-FI" sz="1300" dirty="0">
                <a:solidFill>
                  <a:srgbClr val="FFFFFF"/>
                </a:solidFill>
              </a:rPr>
              <a:t>, giving it a score of over 4 out of 5.</a:t>
            </a:r>
          </a:p>
          <a:p>
            <a:pPr lvl="0" algn="l"/>
            <a:r>
              <a:rPr lang="en-FI" sz="1300" b="1" dirty="0">
                <a:solidFill>
                  <a:srgbClr val="FFFFFF"/>
                </a:solidFill>
              </a:rPr>
              <a:t>Overall Resilience:</a:t>
            </a:r>
            <a:r>
              <a:rPr lang="en-FI" sz="1300" dirty="0">
                <a:solidFill>
                  <a:srgbClr val="FFFFFF"/>
                </a:solidFill>
              </a:rPr>
              <a:t> Residents show strong confidence in handling international crises and keeping the country secure overall.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A3DE5B-D711-D6FB-FBE2-12163BEB0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736" y="1638768"/>
            <a:ext cx="6514208" cy="3501386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79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B5AF02-CB21-AD2E-D92E-FC77948C6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4EA2EC-D58A-BEB5-BC0F-CE60D5D95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Tech Stack &amp; Project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AD5C72-5229-6CAB-D7B8-7FA3F3079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2000" b="1"/>
              <a:t>Tech Stack:</a:t>
            </a:r>
            <a:endParaRPr lang="en-US" sz="2000"/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/>
              <a:t>Python (Pandas, NumPy) for data processing and cleaning.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/>
              <a:t>Matplotlib and Seaborn for clear data visualization.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/>
              <a:t>FSD (Finnish Social Science Data Archive) survey processing workflow.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2000" b="1"/>
              <a:t>Key Takeaways:</a:t>
            </a:r>
            <a:endParaRPr lang="en-US" sz="2000"/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b="1"/>
              <a:t>End-to-End Analysis:</a:t>
            </a:r>
            <a:r>
              <a:rPr lang="en-US"/>
              <a:t> Cleaned and combined multi-year public survey data (2020–2025) into a smooth, reproducible workflow.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b="1"/>
              <a:t>Accurate Methodology:</a:t>
            </a:r>
            <a:r>
              <a:rPr lang="en-US"/>
              <a:t> Applied official weighting (PAINO) and smart filtering to ensure the numbers accurately represent the public.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b="1"/>
              <a:t>Clear Story:</a:t>
            </a:r>
            <a:r>
              <a:rPr lang="en-US"/>
              <a:t> The project clearly highlights how public opinion and societal resilience shifted during a major historical milestone.</a:t>
            </a:r>
          </a:p>
        </p:txBody>
      </p:sp>
    </p:spTree>
    <p:extLst>
      <p:ext uri="{BB962C8B-B14F-4D97-AF65-F5344CB8AC3E}">
        <p14:creationId xmlns:p14="http://schemas.microsoft.com/office/powerpoint/2010/main" val="537281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655</Words>
  <Application>Microsoft Office PowerPoint</Application>
  <PresentationFormat>Widescreen</PresentationFormat>
  <Paragraphs>42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How Finland’s Public Opinion Shifted Toward NATO (2020–2025)  Tracking changes in national security, defense, and public concerns through 6 years of sociological data </vt:lpstr>
      <vt:lpstr>The Source: Official annual surveys from the Finnish Social Science Data Archive (FSD) from 2020 to 2025 (Series FSD349, FSD3606, FSD3676, FSD3752, FSD3856, FSD3955, FSD4066).</vt:lpstr>
      <vt:lpstr>Evolution of Public Support for NATO (2021–2025)</vt:lpstr>
      <vt:lpstr>Generational Shifts: Age-Group Analysis</vt:lpstr>
      <vt:lpstr>Evolution of Finnish Public Opinion on NATO Membership (2021–2025)</vt:lpstr>
      <vt:lpstr>Assessment of Security Aspects and Defense (2021)</vt:lpstr>
      <vt:lpstr>Comprehensive Security and Resilience Index (2025)</vt:lpstr>
      <vt:lpstr>Tech Stack &amp; Project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Oksana Kocherzhat</dc:creator>
  <cp:lastModifiedBy>Oksana Kocherzhat</cp:lastModifiedBy>
  <cp:revision>2</cp:revision>
  <dcterms:created xsi:type="dcterms:W3CDTF">2026-10-09T10:17:30Z</dcterms:created>
  <dcterms:modified xsi:type="dcterms:W3CDTF">2026-10-11T16:55:50Z</dcterms:modified>
</cp:coreProperties>
</file>